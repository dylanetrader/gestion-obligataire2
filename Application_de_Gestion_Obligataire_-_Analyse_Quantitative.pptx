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71563"/>
            <a:ext cx="54864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4500"/>
                </a:solidFill>
              </a:rPr>
              <a:t>Application de Gestion Obligataire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148818"/>
            <a:ext cx="5486400" cy="7250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1A1A"/>
                </a:solidFill>
              </a:rPr>
              <a:t>Une Plateforme d'Analyse Quantitative pour les Professionnels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4914900" y="21717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Objectif: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Fournir des outils d'analyse et de gestion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avancés pour les instruments obligataires.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914900" y="277177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Technologie: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Développée avec Streamlit pour une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interface utilisateur web interactive et conviviale.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914900" y="337185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Public Cible: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Experts en finance quantitative,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gestionnaires de portefeuille et investisseurs.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914900" y="397192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Expertise: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Basée sur des principes robustes de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finance quantitative (YTM, Duration, Pricing).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200400" cy="103763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Architecture Modulaire pour une Maintenance Simplifiée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823442"/>
            <a:ext cx="3200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Séparation des Couches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L'application sépare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clairement l'interface utilisateur (pages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Streamlit) de la logique métier (modules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utilitaires).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2823567"/>
            <a:ext cx="3200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Dossier `app/pages/`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Contient les 8 pages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thématiques (l'interface utilisateur).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3395067"/>
            <a:ext cx="32004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Dossier `app/utils/`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Encapsule les calculs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financiers complexes (`bonds.py`,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`adjudication.py`, etc.).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4180880"/>
            <a:ext cx="32004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Transparence 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Facilite l'ajout de nouvelles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fonctionnalités et la mise à jour des modèles de 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calcul.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4620723" y="2032397"/>
            <a:ext cx="3102927" cy="44827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Text 6"/>
          <p:cNvSpPr/>
          <p:nvPr/>
        </p:nvSpPr>
        <p:spPr>
          <a:xfrm>
            <a:off x="4620723" y="2032397"/>
            <a:ext cx="3102927" cy="448270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2F2F2"/>
                </a:solidFill>
              </a:rPr>
              <a:t>Application Streamlit (`app.py`)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065044" y="2587823"/>
            <a:ext cx="21431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95" dirty="0">
                <a:solidFill>
                  <a:srgbClr val="333333"/>
                </a:solidFill>
              </a:rPr>
              <a:t>↓</a:t>
            </a:r>
            <a:endParaRPr lang="en-US" sz="1595" dirty="0"/>
          </a:p>
        </p:txBody>
      </p:sp>
      <p:sp>
        <p:nvSpPr>
          <p:cNvPr id="11" name="Shape 8"/>
          <p:cNvSpPr/>
          <p:nvPr/>
        </p:nvSpPr>
        <p:spPr>
          <a:xfrm>
            <a:off x="4064794" y="3078956"/>
            <a:ext cx="2071688" cy="6750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4064794" y="3078956"/>
            <a:ext cx="2071688" cy="675084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Couche Présentation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 `app/pages/` (UI)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6207919" y="3078956"/>
            <a:ext cx="2071688" cy="67508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1"/>
          <p:cNvSpPr/>
          <p:nvPr/>
        </p:nvSpPr>
        <p:spPr>
          <a:xfrm>
            <a:off x="6207919" y="3078956"/>
            <a:ext cx="2071688" cy="675084"/>
          </a:xfrm>
          <a:prstGeom prst="rect">
            <a:avLst/>
          </a:prstGeom>
          <a:noFill/>
          <a:ln/>
        </p:spPr>
        <p:txBody>
          <a:bodyPr wrap="square" lIns="85090" tIns="170053" rIns="85090" bIns="170053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Couche Logique Métier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
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F2F2"/>
                </a:solidFill>
              </a:rPr>
              <a:t> `app/utils/` (Calculs)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40005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68016"/>
            <a:ext cx="4000500" cy="2857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4000500" cy="7250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Outils d'Analyse Précise des Obligations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625203"/>
            <a:ext cx="3857625" cy="1274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25203"/>
            <a:ext cx="57150" cy="127407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49338"/>
            <a:ext cx="160734" cy="214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3703" y="1839516"/>
            <a:ext cx="16272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Pricing et Duration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785813" y="2144911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Calcul du Prix Théorique, du **YTM** et de la **Duration Modifiée** (sensibilité aux taux) via le module `bonds.py`.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714875" y="1625203"/>
            <a:ext cx="3857625" cy="1274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714875" y="1625203"/>
            <a:ext cx="57150" cy="127407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849338"/>
            <a:ext cx="214313" cy="2143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50656" y="1839516"/>
            <a:ext cx="190841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Courbe de Rendement</a:t>
            </a:r>
            <a:endParaRPr lang="en-US" sz="1193" dirty="0"/>
          </a:p>
        </p:txBody>
      </p:sp>
      <p:sp>
        <p:nvSpPr>
          <p:cNvPr id="15" name="Text 10"/>
          <p:cNvSpPr/>
          <p:nvPr/>
        </p:nvSpPr>
        <p:spPr>
          <a:xfrm>
            <a:off x="4929188" y="2144911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Visualisation interactive et analyse de la pente (spread) avec interpolation par **Splines Cubiques** (`03_Yield_Curve.py`).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571500" y="3185024"/>
            <a:ext cx="3857625" cy="1274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3185024"/>
            <a:ext cx="57150" cy="127407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409159"/>
            <a:ext cx="214313" cy="21431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07281" y="3399337"/>
            <a:ext cx="21563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Opportunités d'Arbitrage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785813" y="3704732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Identification des obligations **sous-évaluées** ou **surévaluées** par rapport à un YTM de référence (`07_Opportunités.py`).</a:t>
            </a:r>
            <a:endParaRPr lang="en-US" sz="942" dirty="0"/>
          </a:p>
        </p:txBody>
      </p:sp>
      <p:sp>
        <p:nvSpPr>
          <p:cNvPr id="21" name="Shape 15"/>
          <p:cNvSpPr/>
          <p:nvPr/>
        </p:nvSpPr>
        <p:spPr>
          <a:xfrm>
            <a:off x="4714875" y="3185024"/>
            <a:ext cx="3857625" cy="12740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6"/>
          <p:cNvSpPr/>
          <p:nvPr/>
        </p:nvSpPr>
        <p:spPr>
          <a:xfrm>
            <a:off x="4714875" y="3185024"/>
            <a:ext cx="57150" cy="127407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409159"/>
            <a:ext cx="267891" cy="2143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04234" y="3399337"/>
            <a:ext cx="189608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Fondement Théorique</a:t>
            </a:r>
            <a:endParaRPr lang="en-US" sz="1193" dirty="0"/>
          </a:p>
        </p:txBody>
      </p:sp>
      <p:sp>
        <p:nvSpPr>
          <p:cNvPr id="25" name="Text 18"/>
          <p:cNvSpPr/>
          <p:nvPr/>
        </p:nvSpPr>
        <p:spPr>
          <a:xfrm>
            <a:off x="4929188" y="3704732"/>
            <a:ext cx="34290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Les calculs reposent sur des modèles d'actualisation des flux de trésorerie (**DCF**) pour une valorisation précise.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Optimisation des Soumissions et Gestion des Risques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312664"/>
            <a:ext cx="3893344" cy="1471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12664"/>
            <a:ext cx="57150" cy="14716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8" name="Shape 5"/>
          <p:cNvSpPr/>
          <p:nvPr/>
        </p:nvSpPr>
        <p:spPr>
          <a:xfrm>
            <a:off x="785813" y="1526977"/>
            <a:ext cx="357188" cy="357188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81" y="161984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0156" y="1598414"/>
            <a:ext cx="16450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Calcul d'Adjudication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785813" y="1991320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Détermination du **Prix Marginal** et des allocations pour les enchères à prix multiple (`01_Calcul_Adjudication.py`).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679156" y="1312664"/>
            <a:ext cx="3893344" cy="1471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4679156" y="1312664"/>
            <a:ext cx="57150" cy="14716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4" name="Shape 10"/>
          <p:cNvSpPr/>
          <p:nvPr/>
        </p:nvSpPr>
        <p:spPr>
          <a:xfrm>
            <a:off x="4893469" y="1526977"/>
            <a:ext cx="357188" cy="357188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38" y="1619845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57813" y="1598414"/>
            <a:ext cx="20979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Simulation de Soumissions</a:t>
            </a:r>
            <a:endParaRPr lang="en-US" sz="1090" dirty="0"/>
          </a:p>
        </p:txBody>
      </p:sp>
      <p:sp>
        <p:nvSpPr>
          <p:cNvPr id="17" name="Text 12"/>
          <p:cNvSpPr/>
          <p:nvPr/>
        </p:nvSpPr>
        <p:spPr>
          <a:xfrm>
            <a:off x="4893469" y="1991320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Évaluation de l'impact des soumissions de l'utilisateur sur le **ratio d'allocation** final (`02_Simulation_Soumissions.py`).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571500" y="2998589"/>
            <a:ext cx="3893344" cy="1471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2998589"/>
            <a:ext cx="57150" cy="14716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0" name="Shape 15"/>
          <p:cNvSpPr/>
          <p:nvPr/>
        </p:nvSpPr>
        <p:spPr>
          <a:xfrm>
            <a:off x="785813" y="3212902"/>
            <a:ext cx="357188" cy="357188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81" y="3305770"/>
            <a:ext cx="171450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0156" y="3284339"/>
            <a:ext cx="181116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Analyse de Portefeuille</a:t>
            </a:r>
            <a:endParaRPr lang="en-US" sz="1090" dirty="0"/>
          </a:p>
        </p:txBody>
      </p:sp>
      <p:sp>
        <p:nvSpPr>
          <p:cNvPr id="23" name="Text 17"/>
          <p:cNvSpPr/>
          <p:nvPr/>
        </p:nvSpPr>
        <p:spPr>
          <a:xfrm>
            <a:off x="785813" y="3677245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Calcul des métriques agrégées (**Duration Modifiée Pondérée**, **YTM Pondéré**) pour une gestion des risques globale (`05_Portefeuille.py`).</a:t>
            </a:r>
            <a:endParaRPr lang="en-US" sz="942" dirty="0"/>
          </a:p>
        </p:txBody>
      </p:sp>
      <p:sp>
        <p:nvSpPr>
          <p:cNvPr id="24" name="Shape 18"/>
          <p:cNvSpPr/>
          <p:nvPr/>
        </p:nvSpPr>
        <p:spPr>
          <a:xfrm>
            <a:off x="4679156" y="2998589"/>
            <a:ext cx="3893344" cy="1471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679156" y="2998589"/>
            <a:ext cx="57150" cy="1471613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6" name="Shape 20"/>
          <p:cNvSpPr/>
          <p:nvPr/>
        </p:nvSpPr>
        <p:spPr>
          <a:xfrm>
            <a:off x="4893469" y="3212902"/>
            <a:ext cx="357188" cy="357188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338" y="3305770"/>
            <a:ext cx="171450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57813" y="3284339"/>
            <a:ext cx="17577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Backtest de Stratégies</a:t>
            </a:r>
            <a:endParaRPr lang="en-US" sz="1090" dirty="0"/>
          </a:p>
        </p:txBody>
      </p:sp>
      <p:sp>
        <p:nvSpPr>
          <p:cNvPr id="29" name="Text 22"/>
          <p:cNvSpPr/>
          <p:nvPr/>
        </p:nvSpPr>
        <p:spPr>
          <a:xfrm>
            <a:off x="4893469" y="3677245"/>
            <a:ext cx="3464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Évaluation de la performance historique des stratégies de soumission (maquette) (`06_Backtest_Adjudications.py`).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3200400" cy="72509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Synthèse et Potentiel d'Évolution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510903"/>
            <a:ext cx="3200400" cy="1000125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725216"/>
            <a:ext cx="16073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0828" y="1698427"/>
            <a:ext cx="2478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Centralisation des outils d'analyse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750094" y="1912739"/>
            <a:ext cx="28032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quantitative pour une prise de décision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50094" y="2127052"/>
            <a:ext cx="6029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éclairée.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3771900" y="714375"/>
            <a:ext cx="4800600" cy="882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771900" y="714375"/>
            <a:ext cx="42863" cy="88295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75" y="861520"/>
            <a:ext cx="150019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36231" y="857250"/>
            <a:ext cx="68769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Évolutivité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3914775" y="1094417"/>
            <a:ext cx="45148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 structure modulaire permet d'intégrer facilement de nouveaux modèles (ex: modèles de risque de crédit, pricing d'options obligataires).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3771900" y="1740201"/>
            <a:ext cx="4800600" cy="882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3771900" y="1740201"/>
            <a:ext cx="42863" cy="88295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887345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157663" y="1883076"/>
            <a:ext cx="1168226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Prochaines Étapes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3914775" y="2120243"/>
            <a:ext cx="45148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Intégration de données de marché en temps réel et développement d'une base de données historique pour le backtest avancé.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3771900" y="2766027"/>
            <a:ext cx="4800600" cy="882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3771900" y="2766027"/>
            <a:ext cx="42863" cy="882951"/>
          </a:xfrm>
          <a:prstGeom prst="rect">
            <a:avLst/>
          </a:prstGeom>
          <a:solidFill>
            <a:srgbClr val="FF450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913171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57663" y="2908902"/>
            <a:ext cx="50137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Contact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3914775" y="3146068"/>
            <a:ext cx="45148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Pour toute question ou collaboration, veuillez nous contacter via votre responsable ou l'équipe de finance quantitative.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2025-12-10T08:55:46Z</dcterms:created>
  <dcterms:modified xsi:type="dcterms:W3CDTF">2025-12-10T08:55:46Z</dcterms:modified>
</cp:coreProperties>
</file>